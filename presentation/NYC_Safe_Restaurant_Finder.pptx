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3" y="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NYC Safe Restaurant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  <a:latin typeface="Segoe UI"/>
              </a:rPr>
              <a:t>A Machine Learning Showcase — Parts 1 through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74552" cy="384048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0">
                <a:solidFill>
                  <a:srgbClr val="CCCCCC"/>
                </a:solidFill>
                <a:latin typeface="Segoe UI"/>
              </a:rPr>
              <a:t>295,995 DOHMH Inspection Records  ·  30,935 Unique Restaurants  ·  NYC 2020–2026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2240280"/>
            <a:ext cx="173736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8BF5"/>
                </a:solidFill>
                <a:latin typeface="Segoe UI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Data &amp;
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6856" y="2240280"/>
            <a:ext cx="1737360" cy="1463040"/>
          </a:xfrm>
          <a:prstGeom prst="rect">
            <a:avLst/>
          </a:prstGeom>
          <a:solidFill>
            <a:srgbClr val="202638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829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64"/>
                </a:solidFill>
                <a:latin typeface="Segoe UI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KNN
Classifier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240280"/>
            <a:ext cx="1737360" cy="1463040"/>
          </a:xfrm>
          <a:prstGeom prst="rect">
            <a:avLst/>
          </a:prstGeom>
          <a:solidFill>
            <a:srgbClr val="2A2B3D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00"/>
                </a:solidFill>
                <a:latin typeface="Segoe UI"/>
              </a:rPr>
              <a:t>Part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Decision
Tree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2240280"/>
            <a:ext cx="1737360" cy="1463040"/>
          </a:xfrm>
          <a:prstGeom prst="rect">
            <a:avLst/>
          </a:prstGeom>
          <a:solidFill>
            <a:srgbClr val="343042"/>
          </a:solidFill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B4"/>
                </a:solidFill>
                <a:latin typeface="Segoe UI"/>
              </a:rPr>
              <a:t>Part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Cuisine
Predictor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240280"/>
            <a:ext cx="1737360" cy="1463040"/>
          </a:xfrm>
          <a:prstGeom prst="rect">
            <a:avLst/>
          </a:prstGeom>
          <a:solidFill>
            <a:srgbClr val="3E354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  <a:latin typeface="Segoe UI"/>
              </a:rPr>
              <a:t>Part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RL Route
Finder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0696" y="2240280"/>
            <a:ext cx="1737360" cy="1463040"/>
          </a:xfrm>
          <a:prstGeom prst="rect">
            <a:avLst/>
          </a:prstGeom>
          <a:solidFill>
            <a:srgbClr val="483A4C"/>
          </a:solidFill>
          <a:ln w="254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32136" y="2286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FF"/>
                </a:solidFill>
                <a:latin typeface="Segoe UI"/>
              </a:rPr>
              <a:t>Part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32136" y="260604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Ultimate
Finder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7788"/>
                </a:solidFill>
                <a:latin typeface="Segoe UI"/>
              </a:rPr>
              <a:t>Data  →  Model  →  Reinforcement Learning  →  Ultimate Finder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656832"/>
            <a:ext cx="112745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  <a:latin typeface="Segoe UI"/>
              </a:rPr>
              <a:t>DOHMH NYC Open Data  ·  NumPy · scikit-learn · Folium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8BF5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Dataset &amp; Project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468880" cy="1005840"/>
          </a:xfrm>
          <a:prstGeom prst="rect">
            <a:avLst/>
          </a:prstGeom>
          <a:solidFill>
            <a:srgbClr val="162133"/>
          </a:solidFill>
          <a:ln w="1905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8BF5"/>
                </a:solidFill>
                <a:latin typeface="Segoe UI"/>
              </a:rPr>
              <a:t>295,995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violation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34440"/>
            <a:ext cx="2468880" cy="1005840"/>
          </a:xfrm>
          <a:prstGeom prst="rect">
            <a:avLst/>
          </a:prstGeom>
          <a:solidFill>
            <a:srgbClr val="162133"/>
          </a:solidFill>
          <a:ln w="1905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2984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8BF5"/>
                </a:solidFill>
                <a:latin typeface="Segoe UI"/>
              </a:rPr>
              <a:t>30,935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55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unique restaurants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34440"/>
            <a:ext cx="2468880" cy="1005840"/>
          </a:xfrm>
          <a:prstGeom prst="rect">
            <a:avLst/>
          </a:prstGeom>
          <a:solidFill>
            <a:srgbClr val="162133"/>
          </a:solidFill>
          <a:ln w="1905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2984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8BF5"/>
                </a:solidFill>
                <a:latin typeface="Segoe UI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55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raw CSV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234440"/>
            <a:ext cx="2468880" cy="1005840"/>
          </a:xfrm>
          <a:prstGeom prst="rect">
            <a:avLst/>
          </a:prstGeom>
          <a:solidFill>
            <a:srgbClr val="162133"/>
          </a:solidFill>
          <a:ln w="1905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29844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8BF5"/>
                </a:solidFill>
                <a:latin typeface="Segoe UI"/>
              </a:rPr>
              <a:t>5 boroughs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755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NYC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192024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58775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8BF5"/>
                </a:solidFill>
                <a:latin typeface="Segoe UI"/>
              </a:rPr>
              <a:t>Raw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2971800"/>
            <a:ext cx="1773936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295,995 rows
27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063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514600"/>
            <a:ext cx="192024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258775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64"/>
                </a:solidFill>
                <a:latin typeface="Segoe UI"/>
              </a:rPr>
              <a:t>load_raw()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971800"/>
            <a:ext cx="1773936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Type casting
NaN handling
Date parsing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63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6" y="2514600"/>
            <a:ext cx="192024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38928" y="258775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800"/>
                </a:solidFill>
                <a:latin typeface="Segoe UI"/>
              </a:rPr>
              <a:t>build_restaurant_table()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2971800"/>
            <a:ext cx="1773936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1 row / restaurant
Agg features
Grade encoding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063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1504" y="2514600"/>
            <a:ext cx="192024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34656" y="258775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44FF"/>
                </a:solidFill>
                <a:latin typeface="Segoe UI"/>
              </a:rPr>
              <a:t>ML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2971800"/>
            <a:ext cx="1773936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KNN · DT · Cuisine
Combined · 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3063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57232" y="2514600"/>
            <a:ext cx="1920240" cy="1463040"/>
          </a:xfrm>
          <a:prstGeom prst="rect">
            <a:avLst/>
          </a:prstGeom>
          <a:solidFill>
            <a:srgbClr val="162133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0384" y="258775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00"/>
                </a:solidFill>
                <a:latin typeface="Segoe UI"/>
              </a:rP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971800"/>
            <a:ext cx="1773936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Interactive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  <a:latin typeface="Segoe UI"/>
              </a:rPr>
              <a:t>Key aggregated features per restaurant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• mean_score  ·  min/max_score  ·  score_range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823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• critical_violations  ·  total_violations  ·  critical_rate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8406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• inspection_count  ·  days_since_last_inspection  ·  violations_per_inspection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858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• latest_grade  ·  latitude  ·  longitude  ·  cuisine  ·  boro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4"/>
                </a:solidFill>
                <a:latin typeface="Segoe U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KNN Grade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88720"/>
            <a:ext cx="576072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4"/>
                </a:solidFill>
                <a:latin typeface="Segoe UI"/>
              </a:rPr>
              <a:t>Algorithm (from scratch — NumPy 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828800" cy="274320"/>
          </a:xfrm>
          <a:prstGeom prst="roundRect">
            <a:avLst/>
          </a:prstGeom>
          <a:solidFill>
            <a:srgbClr val="163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C864"/>
                </a:solidFill>
                <a:latin typeface="Segoe UI"/>
              </a:rPr>
              <a:t>Features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642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mean_score · critical_violations
total_violations · days_since_last_inspection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322576"/>
            <a:ext cx="1828800" cy="274320"/>
          </a:xfrm>
          <a:prstGeom prst="roundRect">
            <a:avLst/>
          </a:prstGeom>
          <a:solidFill>
            <a:srgbClr val="163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C864"/>
                </a:solidFill>
                <a:latin typeface="Segoe UI"/>
              </a:rPr>
              <a:t>Z-score normalise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32257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μ = train mean  ·  σ = train std
X̂ = (X − μ) / (σ + 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80944"/>
            <a:ext cx="1828800" cy="274320"/>
          </a:xfrm>
          <a:prstGeom prst="roundRect">
            <a:avLst/>
          </a:prstGeom>
          <a:solidFill>
            <a:srgbClr val="163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C864"/>
                </a:solidFill>
                <a:latin typeface="Segoe UI"/>
              </a:rPr>
              <a:t>Cosine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98094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sim(q, xᵢ) = (q · xᵢ) / (‖q‖ · ‖xᵢ‖)
Vectorised: (B × F) @ (F × N)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639311"/>
            <a:ext cx="1828800" cy="274320"/>
          </a:xfrm>
          <a:prstGeom prst="roundRect">
            <a:avLst/>
          </a:prstGeom>
          <a:solidFill>
            <a:srgbClr val="163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C864"/>
                </a:solidFill>
                <a:latin typeface="Segoe UI"/>
              </a:rPr>
              <a:t>Top-K neighbours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639311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np.argpartition(sims, −K)  →  O(N) partial sort
K neighbours selected per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297679"/>
            <a:ext cx="1828800" cy="274320"/>
          </a:xfrm>
          <a:prstGeom prst="roundRect">
            <a:avLst/>
          </a:prstGeom>
          <a:solidFill>
            <a:srgbClr val="163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C864"/>
                </a:solidFill>
                <a:latin typeface="Segoe UI"/>
              </a:rPr>
              <a:t>Majority vote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29767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ŷ = argmax  count(grade g among K neighbours)
Output: A / B /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029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  <a:latin typeface="Segoe UI"/>
              </a:rPr>
              <a:t>Temporal split: sorted by latest_inspection_date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218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  <a:latin typeface="Segoe UI"/>
              </a:rPr>
              <a:t>Train = earliest 80%  ·  Test = newest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88720"/>
            <a:ext cx="571500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F0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128016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C"/>
                </a:solidFill>
                <a:latin typeface="Segoe UI"/>
              </a:rPr>
              <a:t>Why KNN Fails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1664208"/>
            <a:ext cx="2103120" cy="274320"/>
          </a:xfrm>
          <a:prstGeom prst="roundRect">
            <a:avLst/>
          </a:prstGeom>
          <a:solidFill>
            <a:srgbClr val="33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0503C"/>
                </a:solidFill>
                <a:latin typeface="Segoe UI"/>
              </a:rPr>
              <a:t>Class Imbalance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664208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Grade A ≈ 86%  ·  B ≈ 10%  ·  C ≈ 4%
Majority vote always returns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322576"/>
            <a:ext cx="2103120" cy="274320"/>
          </a:xfrm>
          <a:prstGeom prst="roundRect">
            <a:avLst/>
          </a:prstGeom>
          <a:solidFill>
            <a:srgbClr val="33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0503C"/>
                </a:solidFill>
                <a:latin typeface="Segoe UI"/>
              </a:rPr>
              <a:t>Lazy Learner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32257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No learned boundary — memorises training
points, cannot generalise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2980944"/>
            <a:ext cx="2103120" cy="274320"/>
          </a:xfrm>
          <a:prstGeom prst="roundRect">
            <a:avLst/>
          </a:prstGeom>
          <a:solidFill>
            <a:srgbClr val="33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0503C"/>
                </a:solidFill>
                <a:latin typeface="Segoe UI"/>
              </a:rPr>
              <a:t>Cosine Conflation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98094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Angle metric has no causal link to grade
Outliers dominate after z-scoring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3639311"/>
            <a:ext cx="2103120" cy="274320"/>
          </a:xfrm>
          <a:prstGeom prst="roundRect">
            <a:avLst/>
          </a:prstGeom>
          <a:solidFill>
            <a:srgbClr val="33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0503C"/>
                </a:solidFill>
                <a:latin typeface="Segoe UI"/>
              </a:rPr>
              <a:t>No Feature Importance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639311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Cannot tell which features matter
Black box — no interpretability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4297679"/>
            <a:ext cx="2103120" cy="274320"/>
          </a:xfrm>
          <a:prstGeom prst="roundRect">
            <a:avLst/>
          </a:prstGeom>
          <a:solidFill>
            <a:srgbClr val="33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0503C"/>
                </a:solidFill>
                <a:latin typeface="Segoe UI"/>
              </a:rPr>
              <a:t>O(n)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97679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Every prediction compares against all
~24 k training restaurants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0292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Segoe UI"/>
              </a:rPr>
              <a:t>→ Part 3 (Decision Tree) addresses all five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Segoe U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Decision Tree Grade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88720"/>
            <a:ext cx="365760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Segoe UI"/>
              </a:rPr>
              <a:t>10 Features  (4 base + 6 engineered)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4"/>
                </a:solidFill>
                <a:latin typeface="Segoe UI"/>
              </a:rPr>
              <a:t>Original (from 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3852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mean_score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critical_violations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5059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total_violations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0662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days_since_last_inspection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54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B4"/>
                </a:solidFill>
                <a:latin typeface="Segoe UI"/>
              </a:rPr>
              <a:t>Engineered (new)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2841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min_score  ·  max_score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score_range = max −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8404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inspection_count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9651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critical_rate = crit /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35254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  • violations_per_inspection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425196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33672" y="126187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Segoe UI"/>
              </a:rPr>
              <a:t>Weighted Gini Algorithm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166420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Gini Impurity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6420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Gini(S) = 1 − Σ pᵢ²
(weighted by class frequency)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225856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Balanced Class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5856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w(class g) = n / (n_classes · count_g)
Gives B and C equal pull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285292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Best Split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5292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Δ = Gini(parent) − Σ wₗ·Gini(left) − wᵣ·Gini(right)
Vectorised over T thresholds × N samples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3672" y="344728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Quantile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4728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50 quantile-sampled cut-points per feature
Avoids evaluating every unique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404164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Stopping Criteria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4164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max_depth | min_samples_split
min_samples_leaf | pure node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3672" y="4636008"/>
            <a:ext cx="2011680" cy="256032"/>
          </a:xfrm>
          <a:prstGeom prst="round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C800"/>
                </a:solidFill>
                <a:latin typeface="Segoe UI"/>
              </a:rPr>
              <a:t>Feature Importance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63600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Σ (weighted Gini decrease at each split)
Normalised to sum =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3648" y="1188720"/>
            <a:ext cx="3364992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32520" y="126187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4"/>
                </a:solidFill>
                <a:latin typeface="Segoe UI"/>
              </a:rPr>
              <a:t>DT vs KNN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664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CCCC"/>
                </a:solidFill>
                <a:latin typeface="Segoe UI"/>
              </a:rPr>
              <a:t>Issue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664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03C"/>
                </a:solidFill>
                <a:latin typeface="Segoe UI"/>
              </a:rPr>
              <a:t>KNN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1664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64"/>
                </a:solidFill>
                <a:latin typeface="Segoe UI"/>
              </a:rPr>
              <a:t>DT Fix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2075688"/>
            <a:ext cx="3246120" cy="27432"/>
          </a:xfrm>
          <a:prstGeom prst="rect">
            <a:avLst/>
          </a:prstGeom>
          <a:solidFill>
            <a:srgbClr val="66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20" y="21214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Imbalance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1214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503C"/>
                </a:solidFill>
                <a:latin typeface="Segoe UI"/>
              </a:rPr>
              <a:t>Fail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21214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64"/>
                </a:solidFill>
                <a:latin typeface="Segoe UI"/>
              </a:rPr>
              <a:t>Balanced weights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5786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5786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503C"/>
                </a:solidFill>
                <a:latin typeface="Segoe UI"/>
              </a:rPr>
              <a:t>None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5786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64"/>
                </a:solidFill>
                <a:latin typeface="Segoe UI"/>
              </a:rPr>
              <a:t>Learned thresholds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0358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30358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503C"/>
                </a:solidFill>
                <a:latin typeface="Segoe UI"/>
              </a:rPr>
              <a:t>Cosine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30358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64"/>
                </a:solidFill>
                <a:latin typeface="Segoe UI"/>
              </a:rPr>
              <a:t>Gini impurity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4930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Importance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34930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503C"/>
                </a:solidFill>
                <a:latin typeface="Segoe UI"/>
              </a:rPr>
              <a:t>None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34930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64"/>
                </a:solidFill>
                <a:latin typeface="Segoe UI"/>
              </a:rPr>
              <a:t>Split Δ Gini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950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Inference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3950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503C"/>
                </a:solidFill>
                <a:latin typeface="Segoe UI"/>
              </a:rPr>
              <a:t>O(n)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39502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64"/>
                </a:solidFill>
                <a:latin typeface="Segoe UI"/>
              </a:rPr>
              <a:t>O(depth)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B4"/>
                </a:solidFill>
                <a:latin typeface="Segoe U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Cuisine Type Predictor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965960" cy="2286000"/>
          </a:xfrm>
          <a:prstGeom prst="rect">
            <a:avLst/>
          </a:prstGeom>
          <a:solidFill>
            <a:srgbClr val="162133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417320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Segoe UI"/>
              </a:rPr>
              <a:t>Restaurant
Name (DBA)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984248"/>
            <a:ext cx="1819656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25880"/>
            <a:ext cx="1965960" cy="2286000"/>
          </a:xfrm>
          <a:prstGeom prst="rect">
            <a:avLst/>
          </a:prstGeom>
          <a:solidFill>
            <a:srgbClr val="162133"/>
          </a:solidFill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9192" y="1417320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B4"/>
                </a:solidFill>
                <a:latin typeface="Segoe UI"/>
              </a:rPr>
              <a:t>Text
Normalisation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1984248"/>
            <a:ext cx="1819656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lowercase
strip punctuation
collapse 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325880"/>
            <a:ext cx="1965960" cy="2286000"/>
          </a:xfrm>
          <a:prstGeom prst="rect">
            <a:avLst/>
          </a:prstGeom>
          <a:solidFill>
            <a:srgbClr val="162133"/>
          </a:solidFill>
          <a:ln w="2540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5192" y="1417320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8BF5"/>
                </a:solidFill>
                <a:latin typeface="Segoe UI"/>
              </a:rPr>
              <a:t>TF-IDF
Vectoriser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984248"/>
            <a:ext cx="1819656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analyzer='char_wb'
n-gram range (2,4)
max 50k features
sublinear TF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325880"/>
            <a:ext cx="1965960" cy="2286000"/>
          </a:xfrm>
          <a:prstGeom prst="rect">
            <a:avLst/>
          </a:prstGeom>
          <a:solidFill>
            <a:srgbClr val="162133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1417320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64"/>
                </a:solidFill>
                <a:latin typeface="Segoe UI"/>
              </a:rPr>
              <a:t>Logistic
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1984248"/>
            <a:ext cx="1819656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C=1.0 · L2 reg
balanced weights
solver='lbfgs'
max_iter=1000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325880"/>
            <a:ext cx="1965960" cy="2286000"/>
          </a:xfrm>
          <a:prstGeom prst="rect">
            <a:avLst/>
          </a:prstGeom>
          <a:solidFill>
            <a:srgbClr val="162133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37192" y="1417320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800"/>
                </a:solidFill>
                <a:latin typeface="Segoe UI"/>
              </a:rPr>
              <a:t>Top-3
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1984248"/>
            <a:ext cx="1819656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Segoe UI"/>
              </a:rPr>
              <a:t>Cuisine label
+ probability
(softmax)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840480"/>
            <a:ext cx="5669280" cy="265176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93192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Segoe UI"/>
              </a:rPr>
              <a:t>Why Character N-grams?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97680"/>
            <a:ext cx="5303520" cy="1920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• Capture sub-word patterns: 'pizz' → pizza · 'sush' → sushi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• Language-agnostic: works across cuisines without tokenisation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• Robust to spelling variants and abbreviations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• char_wb pads each word boundary with whitespace markers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• n-gram (2,4): bigrams + trigrams + quadgrams = rich vocabulary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3840480"/>
            <a:ext cx="5833872" cy="265176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4"/>
                </a:solidFill>
                <a:latin typeface="Segoe UI"/>
              </a:rPr>
              <a:t>Two Train/Test Split Strategies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15968"/>
            <a:ext cx="5577840" cy="1920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1">
                <a:solidFill>
                  <a:srgbClr val="00C864"/>
                </a:solidFill>
                <a:latin typeface="Segoe UI"/>
              </a:rPr>
              <a:t>Random split (stratified):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Randomly stratify 80/20 across all boroughs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Tests generalisation across all cuisine types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0C8B4"/>
                </a:solidFill>
                <a:latin typeface="Segoe UI"/>
              </a:rPr>
              <a:t>Geographic (borough hold-out):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One entire NYC borough excluded from training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Tests spatial generalisation — does the model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predict cuisine from restaurant names it's never seen?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RL-Powered Safe Restaurant Route Finder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88720"/>
            <a:ext cx="502920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MDP Formulation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46304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State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6420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Grid cell (row, col) ≈ 400 m × 420 m
111 × 113 = 12,543 cells covering all NYC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322576"/>
            <a:ext cx="146304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Action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2257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Move in 8 compass directions:
N · NE · E · SE · S · SW · W · NW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80944"/>
            <a:ext cx="146304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Reward R(s)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80944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Safety scores (A=3 B=2 C=1) of cuisine-filtered
restaurants in cell s, Gaussian-blurred
× cuisine TF-IDF match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639311"/>
            <a:ext cx="146304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Discount 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3931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Derived from walking-time budget:
γ ∈ {0.50 … 0.85} (5–20 min presets)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297679"/>
            <a:ext cx="146304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976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Value Iteration — Bellman update (NumPy):
Vⁿ⁺¹(s) = R(s) + γ · max_a Vⁿ(T(s,a))
Fully vectorised via np.pad + np.maximum.reduce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188720"/>
            <a:ext cx="649224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261872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Route Planning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64208"/>
            <a:ext cx="228600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1  Cuisine NLP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56816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Segoe UI"/>
              </a:rPr>
              <a:t>TF-IDF char n-grams on cuisine labels
Expand food keywords: 'ramen' → 'Japanese noodles'
Cosine similarity → per-cuisine match ∈ [0.05, 1.0]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624328"/>
            <a:ext cx="228600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2  Build reward grid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16936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Segoe UI"/>
              </a:rPr>
              <a:t>For each restaurant: weighted_score = grade_safety × cuisine_match
np.add.at accumulates into (111×113) grid
gaussian_filter(σ) spreads density to adjacent cells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584448"/>
            <a:ext cx="228600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3  Proximity Gaussian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877056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Segoe UI"/>
              </a:rPr>
              <a:t>R_biased = R × exp(−dist² / 2σ²)
Suppresses far clusters beyond walking radius
σ derived from walk-time preset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544568"/>
            <a:ext cx="228600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4  Value Iteration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837176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Segoe UI"/>
              </a:rPr>
              <a:t>Bellman update converges in &lt;400 iterations
All 8-direction neighbours via np.pad shifts
Convergence check: max|Vⁿ⁺¹ − Vⁿ| &lt; 1e-5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5504688"/>
            <a:ext cx="2286000" cy="256032"/>
          </a:xfrm>
          <a:prstGeom prst="roundRect">
            <a:avLst/>
          </a:prstGeom>
          <a:solidFill>
            <a:srgbClr val="33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8C00"/>
                </a:solidFill>
                <a:latin typeface="Segoe UI"/>
              </a:rPr>
              <a:t>5  Greedy trace + OSRM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797296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Segoe UI"/>
              </a:rPr>
              <a:t>Follow ∇V from start → destination cell
Real pedestrian route via OSRM API (walking mode)
Fallback: rectilinear street-grid approximation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FF"/>
                </a:solidFill>
                <a:latin typeface="Segoe U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Ultimate Restaurant Finder — Everything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88720"/>
            <a:ext cx="3383280" cy="5349240"/>
          </a:xfrm>
          <a:prstGeom prst="rect">
            <a:avLst/>
          </a:prstGeom>
          <a:solidFill>
            <a:srgbClr val="162133"/>
          </a:solidFill>
          <a:ln w="1905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126187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44FF"/>
                </a:solidFill>
                <a:latin typeface="Segoe UI"/>
              </a:rPr>
              <a:t>Combined Grade Predictor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" y="1691640"/>
            <a:ext cx="31638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AA44FF"/>
                </a:solidFill>
                <a:latin typeface="Segoe UI"/>
              </a:rPr>
              <a:t>Why blend?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965960"/>
            <a:ext cx="31638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KNN skews → A  (class imbalance, no weighting)
DT skews → B/C  (balanced Gini)
Blend gives calibrated continuous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624328"/>
            <a:ext cx="31638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AA44FF"/>
                </a:solidFill>
                <a:latin typeface="Segoe UI"/>
              </a:rPr>
              <a:t>Probability blend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898648"/>
            <a:ext cx="31638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44FF"/>
                </a:solidFill>
                <a:latin typeface="Segoe UI"/>
              </a:rPr>
              <a:t>P_combined = α·P_KNN + (1−α)·P_DT
(default α = 0.35)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" y="3557016"/>
            <a:ext cx="31638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AA44FF"/>
                </a:solidFill>
                <a:latin typeface="Segoe UI"/>
              </a:rPr>
              <a:t>Safety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3831336"/>
            <a:ext cx="31638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44FF"/>
                </a:solidFill>
                <a:latin typeface="Segoe UI"/>
              </a:rPr>
              <a:t>score = 3·P(A) + 2·P(B) + 1·P(C) ∈ [1,3]
Replaces binary A→3 / B→2 / C→1 look-up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" y="4489704"/>
            <a:ext cx="31638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AA44FF"/>
                </a:solidFill>
                <a:latin typeface="Segoe UI"/>
              </a:rPr>
              <a:t>KNN proba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4764024"/>
            <a:ext cx="31638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Fraction of each grade among K neighbours
Chunked (256/batch) for RAM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5422392"/>
            <a:ext cx="31638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AA44FF"/>
                </a:solidFill>
                <a:latin typeface="Segoe UI"/>
              </a:rPr>
              <a:t>DT proba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5696712"/>
            <a:ext cx="31638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predict_proba() from weighted Gini tree
Probabilities aligned to [A, B, C] order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2191" y="1188720"/>
            <a:ext cx="4114800" cy="5349240"/>
          </a:xfrm>
          <a:prstGeom prst="rect">
            <a:avLst/>
          </a:prstGeom>
          <a:solidFill>
            <a:srgbClr val="162133"/>
          </a:solidFill>
          <a:ln w="1905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1261872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Segoe UI"/>
              </a:rPr>
              <a:t>Restaurant-Level NLP Embedding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691640"/>
            <a:ext cx="389534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B4"/>
                </a:solidFill>
                <a:latin typeface="Segoe UI"/>
              </a:rPr>
              <a:t>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965960"/>
            <a:ext cx="389534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TF-IDF matrix (char n-grams 2–4)
One document per restaurant:
"{name} {cuisine} {borough}"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624328"/>
            <a:ext cx="389534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B4"/>
                </a:solidFill>
                <a:latin typeface="Segoe UI"/>
              </a:rPr>
              <a:t>Query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898648"/>
            <a:ext cx="389534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B4"/>
                </a:solidFill>
                <a:latin typeface="Segoe UI"/>
              </a:rPr>
              <a:t>User text → vectorizer.transform() → (1×d)
Cosine vs restaurant matrix → (n,) scores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3557016"/>
            <a:ext cx="389534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B4"/>
                </a:solidFill>
                <a:latin typeface="Segoe UI"/>
              </a:rPr>
              <a:t>Food keywords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31336"/>
            <a:ext cx="389534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Expansion: 'ramen' → 'japanese noodles asian'
Bridges dish names ↔ cuisine labels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489704"/>
            <a:ext cx="389534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B4"/>
                </a:solidFill>
                <a:latin typeface="Segoe UI"/>
              </a:rPr>
              <a:t>Restaurant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64024"/>
            <a:ext cx="389534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B4"/>
                </a:solidFill>
                <a:latin typeface="Segoe UI"/>
              </a:rPr>
              <a:t>Detect restaurant name in query
'like Nobu' → use Nobu's own vector as query
Finds structurally similar restaurants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188720"/>
            <a:ext cx="3840480" cy="5349240"/>
          </a:xfrm>
          <a:prstGeom prst="rect">
            <a:avLst/>
          </a:prstGeom>
          <a:solidFill>
            <a:srgbClr val="162133"/>
          </a:solidFill>
          <a:ln w="1905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1261872"/>
            <a:ext cx="362102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4"/>
                </a:solidFill>
                <a:latin typeface="Segoe UI"/>
              </a:rPr>
              <a:t>Dual Navigation Modes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1691640"/>
            <a:ext cx="36210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64"/>
                </a:solidFill>
                <a:latin typeface="Segoe UI"/>
              </a:rPr>
              <a:t>Area Finder (RL)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1965960"/>
            <a:ext cx="36210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Value Iteration with combined scores:
reward = safety_score × nlp_score
Routes to densest matching cluster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2624328"/>
            <a:ext cx="36210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64"/>
                </a:solidFill>
                <a:latin typeface="Segoe UI"/>
              </a:rPr>
              <a:t>Direct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898648"/>
            <a:ext cx="36210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64"/>
                </a:solidFill>
                <a:latin typeface="Segoe UI"/>
              </a:rPr>
              <a:t>Rank by safety × nlp × Gaussian_proximity
Route straight to top-ranked restaurant
Next / Previous / Jump-to-# navigation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3557016"/>
            <a:ext cx="3621024" cy="237744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64"/>
                </a:solidFill>
                <a:latin typeface="Segoe UI"/>
              </a:rPr>
              <a:t>Both modes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831336"/>
            <a:ext cx="3621024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Segoe UI"/>
              </a:rPr>
              <a:t>OSRM walking-mode pedestrian routing
Grade-C warning overlay on map
RL value-function heatmap visualisation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FF"/>
                </a:solidFill>
                <a:latin typeface="Segoe UI"/>
              </a:rPr>
              <a:t>Part 6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Blended Probability Math &amp; NLP Matrix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88720"/>
            <a:ext cx="5760720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FF"/>
                </a:solidFill>
                <a:latin typeface="Segoe UI"/>
              </a:rPr>
              <a:t>Grade Probability Blending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>
                <a:solidFill>
                  <a:srgbClr val="00C864"/>
                </a:solidFill>
                <a:latin typeface="Segoe UI"/>
              </a:rPr>
              <a:t>Step 1 — KNN Class Probabilities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For each query x, find K nearest neighbours: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P_KNN(g | x) = count(grade = g in K neighbours) / K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Cosine similarity computed as (B×F)@(F×N) matrix multiply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7788"/>
                </a:solidFill>
                <a:latin typeface="Segoe UI"/>
              </a:rPr>
              <a:t>  → chunked in batches of 256 to bound peak RAM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667788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C800"/>
                </a:solidFill>
                <a:latin typeface="Segoe UI"/>
              </a:rPr>
              <a:t>Step 2 — Decision Tree Class Probabilities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Leaf node stores weighted fraction per class: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P_DT(g | x) = Σ w[i∈leaf, grade=g] / Σ w[i∈leaf]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Weights from balanced class scheme: n / (K · count_g)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CCCCCC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AA44FF"/>
                </a:solidFill>
                <a:latin typeface="Segoe UI"/>
              </a:rPr>
              <a:t>Step 3 — Weighted Blend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P_combined(g | x) = α·P_KNN(g) + (1−α)·P_DT(g)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α = 0.35 (KNN)  ·  (1−α) = 0.65 (DT)  — tunable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CCCCCC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8C00"/>
                </a:solidFill>
                <a:latin typeface="Segoe UI"/>
              </a:rPr>
              <a:t>Step 4 — Continuous Safety Score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safety(x) = 3·P(A|x) + 2·P(B|x) + 1·P(C|x)  ∈ [1, 3]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Replaces binary look-up: smoother RL reward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188720"/>
            <a:ext cx="5742432" cy="539496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61872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B4"/>
                </a:solidFill>
                <a:latin typeface="Segoe UI"/>
              </a:rPr>
              <a:t>NLP Matrix Embedding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5486400" cy="4663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>
                <a:solidFill>
                  <a:srgbClr val="00C8B4"/>
                </a:solidFill>
                <a:latin typeface="Segoe UI"/>
              </a:rPr>
              <a:t>Building the Restaurant Matrix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doc_i = "{name_i} {cuisine_i} {borough_i}"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TF-IDF: analyzer='char_wb', n-gram (2,4), max 100k features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R = vectorizer.fit_transform(docs)   shape: (N_rest × d)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00C8B4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00C8B4"/>
                </a:solidFill>
                <a:latin typeface="Segoe UI"/>
              </a:rPr>
              <a:t>Embedding a User Query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Detect restaurant name in query?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64"/>
                </a:solidFill>
                <a:latin typeface="Segoe UI"/>
              </a:rPr>
              <a:t>    YES → q_vec = R[matched_restaurant_idx]  (1×d sparse row)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FFC800"/>
                </a:solidFill>
                <a:latin typeface="Segoe UI"/>
              </a:rPr>
              <a:t>    NO  → expand food keywords, then: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FFC800"/>
                </a:solidFill>
                <a:latin typeface="Segoe UI"/>
              </a:rPr>
              <a:t>          q_vec = vectorizer.transform([expanded_query])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FFC800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00C8B4"/>
                </a:solidFill>
                <a:latin typeface="Segoe UI"/>
              </a:rPr>
              <a:t>Per-Restaurant Match Scores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sims = cosine_similarity(q_vec, R)   shape: (N_rest,)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nlp_score_i = 0.05 + 0.95·(sims_i / max(sims))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00C8B4"/>
              </a:solidFill>
              <a:latin typeface="Segoe UI"/>
            </a:endParaRP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8C00"/>
                </a:solidFill>
                <a:latin typeface="Segoe UI"/>
              </a:rPr>
              <a:t>Integration into RL Reward Grid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weighted_score_i = safety_i × nlp_score_i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np.add.at(R_grid, (row_i, col_i), weighted_score_i)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CCCCCC"/>
                </a:solidFill>
                <a:latin typeface="Segoe UI"/>
              </a:rPr>
              <a:t>  R_biased = R_grid × Gaussian_proximity(start_cell)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0C8B4"/>
                </a:solidFill>
                <a:latin typeface="Segoe UI"/>
              </a:rPr>
              <a:t>  V ← Value Iteration(R_biased, γ)  →  greedy route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8BF5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84048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System Design — How the Parts Connect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143000"/>
            <a:ext cx="1828800" cy="320040"/>
          </a:xfrm>
          <a:prstGeom prst="round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572768"/>
            <a:ext cx="1828800" cy="5212080"/>
          </a:xfrm>
          <a:prstGeom prst="rect">
            <a:avLst/>
          </a:prstGeom>
          <a:solidFill>
            <a:srgbClr val="162133"/>
          </a:solidFill>
          <a:ln w="12700"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1" y="1645920"/>
            <a:ext cx="1682496" cy="5065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DOHMH CSV
295,995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5103" y="32004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1143000"/>
            <a:ext cx="1828800" cy="320040"/>
          </a:xfrm>
          <a:prstGeom prst="round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5688" y="1572768"/>
            <a:ext cx="1828800" cy="256032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1645920"/>
            <a:ext cx="1682496" cy="2414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data_loader.load_raw()
Type casting · NaN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5688" y="4224528"/>
            <a:ext cx="1828800" cy="256032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4297680"/>
            <a:ext cx="1682496" cy="2414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preprocessor.build_
restaurant_table()
1 row / CAMIS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32004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1143000"/>
            <a:ext cx="1828800" cy="32004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ML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4216" y="157276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164592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KNNClassifier
(cosine, NumPy only)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4216" y="334060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87368" y="341376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DecisionTreeClassifier
(weighted Gini, NumPy)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14216" y="510844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87368" y="518160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CuisinePredictor
(TF-IDF + Logistic Reg)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2004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1143000"/>
            <a:ext cx="1828800" cy="320040"/>
          </a:xfrm>
          <a:prstGeom prst="round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Part 6 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2744" y="1572768"/>
            <a:ext cx="1828800" cy="2560320"/>
          </a:xfrm>
          <a:prstGeom prst="rect">
            <a:avLst/>
          </a:prstGeom>
          <a:solidFill>
            <a:srgbClr val="162133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25896" y="1645920"/>
            <a:ext cx="1682496" cy="2414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CombinedGradePredictor
(blended KNN+DT proba)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52744" y="4224528"/>
            <a:ext cx="1828800" cy="2560320"/>
          </a:xfrm>
          <a:prstGeom prst="rect">
            <a:avLst/>
          </a:prstGeom>
          <a:solidFill>
            <a:srgbClr val="162133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25896" y="4297680"/>
            <a:ext cx="1682496" cy="2414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RestaurantEmbedder
(restaurant matrix NLP)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2004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1272" y="1143000"/>
            <a:ext cx="182880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RL Routing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1272" y="157276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64424" y="164592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MealMatcher / Embedder
(cuisine/restaurant NLP)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1272" y="334060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64424" y="341376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Value Iteration
(Bellman, NumPy)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1272" y="5108448"/>
            <a:ext cx="1828800" cy="1676400"/>
          </a:xfrm>
          <a:prstGeom prst="rect">
            <a:avLst/>
          </a:prstGeom>
          <a:solidFill>
            <a:srgbClr val="162133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64424" y="5181600"/>
            <a:ext cx="1682496" cy="1530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OSRM walking API
(real street routes)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32004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788"/>
                </a:solidFill>
                <a:latin typeface="Segoe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1143000"/>
            <a:ext cx="1828800" cy="320040"/>
          </a:xfrm>
          <a:prstGeom prst="round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D1117"/>
                </a:solidFill>
                <a:latin typeface="Segoe UI"/>
              </a:rPr>
              <a:t>Streamlit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1572768"/>
            <a:ext cx="1828800" cy="5212080"/>
          </a:xfrm>
          <a:prstGeom prst="rect">
            <a:avLst/>
          </a:prstGeom>
          <a:solidFill>
            <a:srgbClr val="162133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02952" y="1645920"/>
            <a:ext cx="1682496" cy="5065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Segoe UI"/>
              </a:rPr>
              <a:t>Interactive dashboard
6 tabs · Folium maps
Plotly charts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7788"/>
                </a:solidFill>
                <a:latin typeface="Segoe UI"/>
              </a:rPr>
              <a:t>All core ML algorithms (KNN, Decision Tree) implemented from scratch with NumPy only.  scikit-learn used for TF-IDF, Logistic Regression, and cosine similarity utilities.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1188720"/>
          </a:xfrm>
          <a:prstGeom prst="rect">
            <a:avLst/>
          </a:prstGeom>
          <a:solidFill>
            <a:srgbClr val="162133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4"/>
                </a:solidFill>
                <a:latin typeface="Segoe UI"/>
              </a:rPr>
              <a:t>Parts 1–3 — From Data to Classifiers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Temporal train/test split prevents data leakage.  Class imbalance is the central challenge: KNN defaults to Grade A while Decision Tree with balanced Gini weights recovers B/C predictions.  10 engineered features give the DT richer signal than KNN's 4.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331720"/>
            <a:ext cx="11640312" cy="1188720"/>
          </a:xfrm>
          <a:prstGeom prst="rect">
            <a:avLst/>
          </a:prstGeom>
          <a:solidFill>
            <a:srgbClr val="162133"/>
          </a:solidFill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77439"/>
            <a:ext cx="112471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Segoe UI"/>
              </a:rPr>
              <a:t>Part 4 — Character N-gram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5768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TF-IDF on character n-grams (2–4) captures sub-word culinary patterns ('sush', 'pizz', 'taco') without any external tokeniser.  Geographic hold-out split tests whether cuisine knowledge transfers across NYC boroughs.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11640312" cy="1188720"/>
          </a:xfrm>
          <a:prstGeom prst="rect">
            <a:avLst/>
          </a:prstGeom>
          <a:solidFill>
            <a:srgbClr val="162133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471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Part 5 — Reinforcement Learning for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Value Iteration (pure NumPy) on a 111×113 grid covers all of NYC.  Proximity Gaussian bias keeps routes realistic.  OSRM walking-mode API provides real pedestrian routes.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11640312" cy="1188720"/>
          </a:xfrm>
          <a:prstGeom prst="rect">
            <a:avLst/>
          </a:prstGeom>
          <a:solidFill>
            <a:srgbClr val="162133"/>
          </a:solidFill>
          <a:ln w="254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471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44FF"/>
                </a:solidFill>
                <a:latin typeface="Segoe UI"/>
              </a:rPr>
              <a:t>Part 6 — Combining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67528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Blending KNN and DT probability distributions gives a calibrated continuous safety score that smooths the RL reward landscape.  Embedding user queries against the full restaurant TF-IDF matrix enables dish, cuisine, AND similar-restaurant queries in one unified NLP step.  Dual navigation modes (cluster RL vs direct route) suit different user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656832"/>
            <a:ext cx="112745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  <a:latin typeface="Segoe UI"/>
              </a:rPr>
              <a:t>NumPy · scikit-learn · Streamlit · Folium · OSRM  ·  DOHMH NYC Open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2429</Words>
  <Application>Microsoft Office PowerPoint</Application>
  <PresentationFormat>自定义</PresentationFormat>
  <Paragraphs>280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Yixuan Du</cp:lastModifiedBy>
  <cp:revision>1</cp:revision>
  <dcterms:created xsi:type="dcterms:W3CDTF">2013-01-27T09:14:16Z</dcterms:created>
  <dcterms:modified xsi:type="dcterms:W3CDTF">2026-04-23T01:27:12Z</dcterms:modified>
  <cp:category/>
</cp:coreProperties>
</file>